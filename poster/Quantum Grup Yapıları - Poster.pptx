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25199950" cy="32399935"/>
  <p:notesSz cx="32399935" cy="2519995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5199950" cy="3931920"/>
          </a:xfrm>
          <a:prstGeom prst="rect">
            <a:avLst/>
          </a:prstGeom>
          <a:solidFill>
            <a:srgbClr val="1B2A5B"/>
          </a:solidFill>
          <a:ln/>
        </p:spPr>
      </p:sp>
      <p:sp>
        <p:nvSpPr>
          <p:cNvPr id="3" name="Shape 1"/>
          <p:cNvSpPr/>
          <p:nvPr/>
        </p:nvSpPr>
        <p:spPr>
          <a:xfrm>
            <a:off x="0" y="3822192"/>
            <a:ext cx="25199950" cy="109728"/>
          </a:xfrm>
          <a:prstGeom prst="rect">
            <a:avLst/>
          </a:prstGeom>
          <a:solidFill>
            <a:srgbClr val="BE9B57"/>
          </a:solidFill>
          <a:ln/>
        </p:spPr>
      </p:sp>
      <p:sp>
        <p:nvSpPr>
          <p:cNvPr id="4" name="Shape 2"/>
          <p:cNvSpPr/>
          <p:nvPr/>
        </p:nvSpPr>
        <p:spPr>
          <a:xfrm>
            <a:off x="640080" y="457200"/>
            <a:ext cx="7955280" cy="1371600"/>
          </a:xfrm>
          <a:prstGeom prst="roundRect">
            <a:avLst>
              <a:gd name="adj" fmla="val 6667"/>
            </a:avLst>
          </a:prstGeom>
          <a:solidFill>
            <a:srgbClr val="FFFFFF"/>
          </a:solidFill>
          <a:ln/>
        </p:spPr>
      </p:sp>
      <p:pic>
        <p:nvPicPr>
          <p:cNvPr id="5" name="Image 0" descr="/Users/berk.terekli/Documents/GitHub/quantum-groups/poster/assets/ytu_logo.png">    </p:cNvPr>
          <p:cNvPicPr>
            <a:picLocks noChangeAspect="1"/>
          </p:cNvPicPr>
          <p:nvPr/>
        </p:nvPicPr>
        <p:blipFill>
          <a:blip r:embed="rId1"/>
          <a:stretch>
            <a:fillRect/>
          </a:stretch>
        </p:blipFill>
        <p:spPr>
          <a:xfrm>
            <a:off x="896112" y="603504"/>
            <a:ext cx="7406640" cy="1056914"/>
          </a:xfrm>
          <a:prstGeom prst="rect">
            <a:avLst/>
          </a:prstGeom>
        </p:spPr>
      </p:pic>
      <p:sp>
        <p:nvSpPr>
          <p:cNvPr id="6" name="Text 3"/>
          <p:cNvSpPr/>
          <p:nvPr/>
        </p:nvSpPr>
        <p:spPr>
          <a:xfrm>
            <a:off x="640080" y="1847088"/>
            <a:ext cx="23919790" cy="960120"/>
          </a:xfrm>
          <a:prstGeom prst="rect">
            <a:avLst/>
          </a:prstGeom>
          <a:noFill/>
          <a:ln/>
        </p:spPr>
        <p:txBody>
          <a:bodyPr wrap="square" rtlCol="0" anchor="ctr"/>
          <a:lstStyle/>
          <a:p>
            <a:pPr algn="ctr" indent="0" marL="0">
              <a:buNone/>
            </a:pPr>
            <a:r>
              <a:rPr lang="en-US" sz="4000" b="1" dirty="0">
                <a:solidFill>
                  <a:srgbClr val="FFFFFF"/>
                </a:solidFill>
                <a:latin typeface="Calibri" pitchFamily="34" charset="0"/>
                <a:ea typeface="Calibri" pitchFamily="34" charset="-122"/>
                <a:cs typeface="Calibri" pitchFamily="34" charset="-120"/>
              </a:rPr>
              <a:t>Quantum Grup Yapılarının Python Ortamında Modellenmesi</a:t>
            </a:r>
            <a:endParaRPr lang="en-US" sz="4000" dirty="0"/>
          </a:p>
        </p:txBody>
      </p:sp>
      <p:sp>
        <p:nvSpPr>
          <p:cNvPr id="7" name="Text 4"/>
          <p:cNvSpPr/>
          <p:nvPr/>
        </p:nvSpPr>
        <p:spPr>
          <a:xfrm>
            <a:off x="640080" y="2852928"/>
            <a:ext cx="23919790" cy="438912"/>
          </a:xfrm>
          <a:prstGeom prst="rect">
            <a:avLst/>
          </a:prstGeom>
          <a:noFill/>
          <a:ln/>
        </p:spPr>
        <p:txBody>
          <a:bodyPr wrap="square" rtlCol="0" anchor="ctr"/>
          <a:lstStyle/>
          <a:p>
            <a:pPr algn="ctr" indent="0" marL="0">
              <a:buNone/>
            </a:pPr>
            <a:r>
              <a:rPr lang="en-US" sz="2400" b="1" dirty="0">
                <a:solidFill>
                  <a:srgbClr val="BE9B57"/>
                </a:solidFill>
                <a:latin typeface="Calibri" pitchFamily="34" charset="0"/>
                <a:ea typeface="Calibri" pitchFamily="34" charset="-122"/>
                <a:cs typeface="Calibri" pitchFamily="34" charset="-120"/>
              </a:rPr>
              <a:t>2025–2026 Bahar Yarıyılı   ·   Matematik Bölümü</a:t>
            </a:r>
            <a:endParaRPr lang="en-US" sz="2400" dirty="0"/>
          </a:p>
        </p:txBody>
      </p:sp>
      <p:sp>
        <p:nvSpPr>
          <p:cNvPr id="8" name="Text 5"/>
          <p:cNvSpPr/>
          <p:nvPr/>
        </p:nvSpPr>
        <p:spPr>
          <a:xfrm>
            <a:off x="640080" y="3273552"/>
            <a:ext cx="23919790" cy="438912"/>
          </a:xfrm>
          <a:prstGeom prst="rect">
            <a:avLst/>
          </a:prstGeom>
          <a:noFill/>
          <a:ln/>
        </p:spPr>
        <p:txBody>
          <a:bodyPr wrap="square" rtlCol="0" anchor="ctr"/>
          <a:lstStyle/>
          <a:p>
            <a:pPr algn="ctr" indent="0" marL="0">
              <a:buNone/>
            </a:pPr>
            <a:r>
              <a:rPr lang="en-US" sz="2200" b="1" dirty="0">
                <a:solidFill>
                  <a:srgbClr val="D7E0F2"/>
                </a:solidFill>
                <a:latin typeface="Calibri" pitchFamily="34" charset="0"/>
                <a:ea typeface="Calibri" pitchFamily="34" charset="-122"/>
                <a:cs typeface="Calibri" pitchFamily="34" charset="-120"/>
              </a:rPr>
              <a:t>Taha Berk TEREKLİ  </a:t>
            </a:r>
            <a:pPr algn="ctr" indent="0" marL="0">
              <a:buNone/>
            </a:pPr>
            <a:r>
              <a:rPr lang="en-US" sz="2200" dirty="0">
                <a:solidFill>
                  <a:srgbClr val="D7E0F2"/>
                </a:solidFill>
                <a:latin typeface="Calibri" pitchFamily="34" charset="0"/>
                <a:ea typeface="Calibri" pitchFamily="34" charset="-122"/>
                <a:cs typeface="Calibri" pitchFamily="34" charset="-120"/>
              </a:rPr>
              <a:t>……………</a:t>
            </a:r>
            <a:pPr algn="ctr" indent="0" marL="0">
              <a:buNone/>
            </a:pPr>
            <a:r>
              <a:rPr lang="en-US" sz="2200" dirty="0">
                <a:solidFill>
                  <a:srgbClr val="D7E0F2"/>
                </a:solidFill>
                <a:latin typeface="Calibri" pitchFamily="34" charset="0"/>
                <a:ea typeface="Calibri" pitchFamily="34" charset="-122"/>
                <a:cs typeface="Calibri" pitchFamily="34" charset="-120"/>
              </a:rPr>
              <a:t>      ·      Danışman: </a:t>
            </a:r>
            <a:pPr algn="ctr" indent="0" marL="0">
              <a:buNone/>
            </a:pPr>
            <a:r>
              <a:rPr lang="en-US" sz="2200" b="1" dirty="0">
                <a:solidFill>
                  <a:srgbClr val="D7E0F2"/>
                </a:solidFill>
                <a:latin typeface="Calibri" pitchFamily="34" charset="0"/>
                <a:ea typeface="Calibri" pitchFamily="34" charset="-122"/>
                <a:cs typeface="Calibri" pitchFamily="34" charset="-120"/>
              </a:rPr>
              <a:t>Prof. Dr. Salih ÇELİK</a:t>
            </a:r>
            <a:endParaRPr lang="en-US" sz="2200" dirty="0"/>
          </a:p>
        </p:txBody>
      </p:sp>
      <p:sp>
        <p:nvSpPr>
          <p:cNvPr id="9" name="Shape 6"/>
          <p:cNvSpPr/>
          <p:nvPr/>
        </p:nvSpPr>
        <p:spPr>
          <a:xfrm>
            <a:off x="548640" y="4206240"/>
            <a:ext cx="24102670" cy="2606040"/>
          </a:xfrm>
          <a:prstGeom prst="roundRect">
            <a:avLst>
              <a:gd name="adj" fmla="val 4211"/>
            </a:avLst>
          </a:prstGeom>
          <a:solidFill>
            <a:srgbClr val="F5F8FD"/>
          </a:solidFill>
          <a:ln w="12700">
            <a:solidFill>
              <a:srgbClr val="D6DEEE"/>
            </a:solidFill>
            <a:prstDash val="solid"/>
          </a:ln>
        </p:spPr>
      </p:sp>
      <p:sp>
        <p:nvSpPr>
          <p:cNvPr id="10" name="Shape 7"/>
          <p:cNvSpPr/>
          <p:nvPr/>
        </p:nvSpPr>
        <p:spPr>
          <a:xfrm>
            <a:off x="548640" y="4206240"/>
            <a:ext cx="24102670" cy="914400"/>
          </a:xfrm>
          <a:prstGeom prst="roundRect">
            <a:avLst>
              <a:gd name="adj" fmla="val 12000"/>
            </a:avLst>
          </a:prstGeom>
          <a:solidFill>
            <a:srgbClr val="1B2A5B"/>
          </a:solidFill>
          <a:ln/>
        </p:spPr>
      </p:sp>
      <p:sp>
        <p:nvSpPr>
          <p:cNvPr id="11" name="Shape 8"/>
          <p:cNvSpPr/>
          <p:nvPr/>
        </p:nvSpPr>
        <p:spPr>
          <a:xfrm>
            <a:off x="548640" y="4992624"/>
            <a:ext cx="24102670" cy="128016"/>
          </a:xfrm>
          <a:prstGeom prst="rect">
            <a:avLst/>
          </a:prstGeom>
          <a:solidFill>
            <a:srgbClr val="1B2A5B"/>
          </a:solidFill>
          <a:ln/>
        </p:spPr>
      </p:sp>
      <p:sp>
        <p:nvSpPr>
          <p:cNvPr id="12" name="Text 9"/>
          <p:cNvSpPr/>
          <p:nvPr/>
        </p:nvSpPr>
        <p:spPr>
          <a:xfrm>
            <a:off x="841248" y="4206240"/>
            <a:ext cx="23517454" cy="914400"/>
          </a:xfrm>
          <a:prstGeom prst="rect">
            <a:avLst/>
          </a:prstGeom>
          <a:noFill/>
          <a:ln/>
        </p:spPr>
        <p:txBody>
          <a:bodyPr wrap="square"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ÖZET</a:t>
            </a:r>
            <a:endParaRPr lang="en-US" sz="3000" dirty="0"/>
          </a:p>
        </p:txBody>
      </p:sp>
      <p:sp>
        <p:nvSpPr>
          <p:cNvPr id="13" name="Text 10"/>
          <p:cNvSpPr/>
          <p:nvPr/>
        </p:nvSpPr>
        <p:spPr>
          <a:xfrm>
            <a:off x="877824" y="5303520"/>
            <a:ext cx="23444302" cy="1371600"/>
          </a:xfrm>
          <a:prstGeom prst="rect">
            <a:avLst/>
          </a:prstGeom>
          <a:noFill/>
          <a:ln/>
        </p:spPr>
        <p:txBody>
          <a:bodyPr wrap="square" rtlCol="0" anchor="t"/>
          <a:lstStyle/>
          <a:p>
            <a:pPr algn="just" indent="0" marL="0">
              <a:lnSpc>
                <a:spcPct val="102000"/>
              </a:lnSpc>
              <a:buNone/>
            </a:pPr>
            <a:r>
              <a:rPr lang="en-US" sz="2000" dirty="0">
                <a:solidFill>
                  <a:srgbClr val="222222"/>
                </a:solidFill>
                <a:latin typeface="Calibri" pitchFamily="34" charset="0"/>
                <a:ea typeface="Calibri" pitchFamily="34" charset="-122"/>
                <a:cs typeface="Calibri" pitchFamily="34" charset="-120"/>
              </a:rPr>
              <a:t>Bu çalışma, Drinfeld–Jimbo kuantum grubu Uq(sl₂) ve GLq(2|1) kuantum süpergrubu için temel temsil-teorik ve Yang–Baxter tipi bağıntıları Python/SymPy ortamında yeniden üretilebilir biçimde modeller. Yöntemin çekirdeği, her cebirsel eşitliği açık sonlu boyutlu temsiller üzerinde bir kalıntı matrisine indirgemek ve matrisin tüm girdilerini sembolik olarak sadeleştirip sıfır olup olmadığını denetlemektir. Raporlanan her eşitlik pytest tabanlı bir teste bağlıdır.</a:t>
            </a:r>
            <a:endParaRPr lang="en-US" sz="2000" dirty="0"/>
          </a:p>
        </p:txBody>
      </p:sp>
      <p:sp>
        <p:nvSpPr>
          <p:cNvPr id="14" name="Shape 11"/>
          <p:cNvSpPr/>
          <p:nvPr/>
        </p:nvSpPr>
        <p:spPr>
          <a:xfrm>
            <a:off x="548640" y="6995160"/>
            <a:ext cx="11845595" cy="4297680"/>
          </a:xfrm>
          <a:prstGeom prst="roundRect">
            <a:avLst>
              <a:gd name="adj" fmla="val 2553"/>
            </a:avLst>
          </a:prstGeom>
          <a:solidFill>
            <a:srgbClr val="F5F8FD"/>
          </a:solidFill>
          <a:ln w="12700">
            <a:solidFill>
              <a:srgbClr val="D6DEEE"/>
            </a:solidFill>
            <a:prstDash val="solid"/>
          </a:ln>
        </p:spPr>
      </p:sp>
      <p:sp>
        <p:nvSpPr>
          <p:cNvPr id="15" name="Shape 12"/>
          <p:cNvSpPr/>
          <p:nvPr/>
        </p:nvSpPr>
        <p:spPr>
          <a:xfrm>
            <a:off x="548640" y="6995160"/>
            <a:ext cx="11845595" cy="914400"/>
          </a:xfrm>
          <a:prstGeom prst="roundRect">
            <a:avLst>
              <a:gd name="adj" fmla="val 12000"/>
            </a:avLst>
          </a:prstGeom>
          <a:solidFill>
            <a:srgbClr val="1B2A5B"/>
          </a:solidFill>
          <a:ln/>
        </p:spPr>
      </p:sp>
      <p:sp>
        <p:nvSpPr>
          <p:cNvPr id="16" name="Shape 13"/>
          <p:cNvSpPr/>
          <p:nvPr/>
        </p:nvSpPr>
        <p:spPr>
          <a:xfrm>
            <a:off x="548640" y="7781544"/>
            <a:ext cx="11845595" cy="128016"/>
          </a:xfrm>
          <a:prstGeom prst="rect">
            <a:avLst/>
          </a:prstGeom>
          <a:solidFill>
            <a:srgbClr val="1B2A5B"/>
          </a:solidFill>
          <a:ln/>
        </p:spPr>
      </p:sp>
      <p:sp>
        <p:nvSpPr>
          <p:cNvPr id="17" name="Text 14"/>
          <p:cNvSpPr/>
          <p:nvPr/>
        </p:nvSpPr>
        <p:spPr>
          <a:xfrm>
            <a:off x="841248" y="6995160"/>
            <a:ext cx="11260379" cy="914400"/>
          </a:xfrm>
          <a:prstGeom prst="rect">
            <a:avLst/>
          </a:prstGeom>
          <a:noFill/>
          <a:ln/>
        </p:spPr>
        <p:txBody>
          <a:bodyPr wrap="square"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GİRİŞ ve MOTİVASYON</a:t>
            </a:r>
            <a:endParaRPr lang="en-US" sz="3000" dirty="0"/>
          </a:p>
        </p:txBody>
      </p:sp>
      <p:sp>
        <p:nvSpPr>
          <p:cNvPr id="18" name="Text 15"/>
          <p:cNvSpPr/>
          <p:nvPr/>
        </p:nvSpPr>
        <p:spPr>
          <a:xfrm>
            <a:off x="877824" y="8092440"/>
            <a:ext cx="11187227" cy="3017520"/>
          </a:xfrm>
          <a:prstGeom prst="rect">
            <a:avLst/>
          </a:prstGeom>
          <a:noFill/>
          <a:ln/>
        </p:spPr>
        <p:txBody>
          <a:bodyPr wrap="square" rtlCol="0" anchor="t"/>
          <a:lstStyle/>
          <a:p>
            <a:pPr algn="just" indent="0" marL="0">
              <a:lnSpc>
                <a:spcPct val="102000"/>
              </a:lnSpc>
              <a:buNone/>
            </a:pPr>
            <a:r>
              <a:rPr lang="en-US" sz="2000" dirty="0">
                <a:solidFill>
                  <a:srgbClr val="222222"/>
                </a:solidFill>
                <a:latin typeface="Calibri" pitchFamily="34" charset="0"/>
                <a:ea typeface="Calibri" pitchFamily="34" charset="-122"/>
                <a:cs typeface="Calibri" pitchFamily="34" charset="-120"/>
              </a:rPr>
              <a:t>Kuantum gruplar, evrensel sarmalayıcı cebir U(g)’nin tek-parametreli (q) deformasyonu olan; ne değişmeli ne de eş-değişmeli Hopf cebirleridir. Kalbinde, integrallenebilir sistemler ile düğüm değişmezlerini aynı çatıda buluşturan Yang–Baxter denklemi ve onun çözümü R-matrisi yatar. Amaç yeni bir kuantum grup tanımlamak değil; bilinen Uq(sl₂) ve GLq(2|1) yapılarını sonlu boyutlu temsiller üzerinde modüler, test edilebilir ve yeniden üretilebilir bir sembolik doğrulama altyapısına dönüştürmektir.</a:t>
            </a:r>
            <a:endParaRPr lang="en-US" sz="2000" dirty="0"/>
          </a:p>
        </p:txBody>
      </p:sp>
      <p:sp>
        <p:nvSpPr>
          <p:cNvPr id="19" name="Shape 16"/>
          <p:cNvSpPr/>
          <p:nvPr/>
        </p:nvSpPr>
        <p:spPr>
          <a:xfrm>
            <a:off x="548640" y="11612880"/>
            <a:ext cx="11845595" cy="10332720"/>
          </a:xfrm>
          <a:prstGeom prst="roundRect">
            <a:avLst>
              <a:gd name="adj" fmla="val 1062"/>
            </a:avLst>
          </a:prstGeom>
          <a:solidFill>
            <a:srgbClr val="F5F8FD"/>
          </a:solidFill>
          <a:ln w="12700">
            <a:solidFill>
              <a:srgbClr val="D6DEEE"/>
            </a:solidFill>
            <a:prstDash val="solid"/>
          </a:ln>
        </p:spPr>
      </p:sp>
      <p:sp>
        <p:nvSpPr>
          <p:cNvPr id="20" name="Shape 17"/>
          <p:cNvSpPr/>
          <p:nvPr/>
        </p:nvSpPr>
        <p:spPr>
          <a:xfrm>
            <a:off x="548640" y="11612880"/>
            <a:ext cx="11845595" cy="914400"/>
          </a:xfrm>
          <a:prstGeom prst="roundRect">
            <a:avLst>
              <a:gd name="adj" fmla="val 12000"/>
            </a:avLst>
          </a:prstGeom>
          <a:solidFill>
            <a:srgbClr val="1B2A5B"/>
          </a:solidFill>
          <a:ln/>
        </p:spPr>
      </p:sp>
      <p:sp>
        <p:nvSpPr>
          <p:cNvPr id="21" name="Shape 18"/>
          <p:cNvSpPr/>
          <p:nvPr/>
        </p:nvSpPr>
        <p:spPr>
          <a:xfrm>
            <a:off x="548640" y="12399264"/>
            <a:ext cx="11845595" cy="128016"/>
          </a:xfrm>
          <a:prstGeom prst="rect">
            <a:avLst/>
          </a:prstGeom>
          <a:solidFill>
            <a:srgbClr val="1B2A5B"/>
          </a:solidFill>
          <a:ln/>
        </p:spPr>
      </p:sp>
      <p:sp>
        <p:nvSpPr>
          <p:cNvPr id="22" name="Text 19"/>
          <p:cNvSpPr/>
          <p:nvPr/>
        </p:nvSpPr>
        <p:spPr>
          <a:xfrm>
            <a:off x="841248" y="11612880"/>
            <a:ext cx="11260379" cy="914400"/>
          </a:xfrm>
          <a:prstGeom prst="rect">
            <a:avLst/>
          </a:prstGeom>
          <a:noFill/>
          <a:ln/>
        </p:spPr>
        <p:txBody>
          <a:bodyPr wrap="square"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KURAMSAL TEMEL</a:t>
            </a:r>
            <a:endParaRPr lang="en-US" sz="3000" dirty="0"/>
          </a:p>
        </p:txBody>
      </p:sp>
      <p:sp>
        <p:nvSpPr>
          <p:cNvPr id="23" name="Text 20"/>
          <p:cNvSpPr/>
          <p:nvPr/>
        </p:nvSpPr>
        <p:spPr>
          <a:xfrm>
            <a:off x="877824" y="12710160"/>
            <a:ext cx="11187227" cy="1005840"/>
          </a:xfrm>
          <a:prstGeom prst="rect">
            <a:avLst/>
          </a:prstGeom>
          <a:noFill/>
          <a:ln/>
        </p:spPr>
        <p:txBody>
          <a:bodyPr wrap="square" rtlCol="0" anchor="t"/>
          <a:lstStyle/>
          <a:p>
            <a:pPr algn="just" indent="0" marL="0">
              <a:buNone/>
            </a:pPr>
            <a:r>
              <a:rPr lang="en-US" sz="2000" dirty="0">
                <a:solidFill>
                  <a:srgbClr val="222222"/>
                </a:solidFill>
                <a:latin typeface="Calibri" pitchFamily="34" charset="0"/>
                <a:ea typeface="Calibri" pitchFamily="34" charset="-122"/>
                <a:cs typeface="Calibri" pitchFamily="34" charset="-120"/>
              </a:rPr>
              <a:t>Uq(sl₂); E, F, K, K⁻¹ üreteçleri ve dört tanımlayıcı bağıntı ile verilen bir Hopf cebridir:</a:t>
            </a:r>
            <a:endParaRPr lang="en-US" sz="2000" dirty="0"/>
          </a:p>
        </p:txBody>
      </p:sp>
      <p:sp>
        <p:nvSpPr>
          <p:cNvPr id="24" name="Shape 21"/>
          <p:cNvSpPr/>
          <p:nvPr/>
        </p:nvSpPr>
        <p:spPr>
          <a:xfrm>
            <a:off x="877824" y="13761720"/>
            <a:ext cx="11187227" cy="1371600"/>
          </a:xfrm>
          <a:prstGeom prst="roundRect">
            <a:avLst>
              <a:gd name="adj" fmla="val 5333"/>
            </a:avLst>
          </a:prstGeom>
          <a:solidFill>
            <a:srgbClr val="F7EFDC"/>
          </a:solidFill>
          <a:ln w="12700">
            <a:solidFill>
              <a:srgbClr val="BE9B57"/>
            </a:solidFill>
            <a:prstDash val="solid"/>
          </a:ln>
        </p:spPr>
      </p:sp>
      <p:sp>
        <p:nvSpPr>
          <p:cNvPr id="25" name="Text 22"/>
          <p:cNvSpPr/>
          <p:nvPr/>
        </p:nvSpPr>
        <p:spPr>
          <a:xfrm>
            <a:off x="1014984" y="13761720"/>
            <a:ext cx="10912907" cy="1371600"/>
          </a:xfrm>
          <a:prstGeom prst="rect">
            <a:avLst/>
          </a:prstGeom>
          <a:noFill/>
          <a:ln/>
        </p:spPr>
        <p:txBody>
          <a:bodyPr wrap="square" rtlCol="0" anchor="ctr"/>
          <a:lstStyle/>
          <a:p>
            <a:pPr algn="ctr" indent="0" marL="0">
              <a:lnSpc>
                <a:spcPct val="110000"/>
              </a:lnSpc>
              <a:buNone/>
            </a:pPr>
            <a:r>
              <a:rPr lang="en-US" sz="2200" b="1" dirty="0">
                <a:solidFill>
                  <a:srgbClr val="1B2A5B"/>
                </a:solidFill>
                <a:latin typeface="Calibri" pitchFamily="34" charset="0"/>
                <a:ea typeface="Calibri" pitchFamily="34" charset="-122"/>
                <a:cs typeface="Calibri" pitchFamily="34" charset="-120"/>
              </a:rPr>
              <a:t>K E K⁻¹ = q² E        K F K⁻¹ = q⁻² F
</a:t>
            </a:r>
            <a:pPr algn="ctr" indent="0" marL="0">
              <a:lnSpc>
                <a:spcPct val="110000"/>
              </a:lnSpc>
              <a:buNone/>
            </a:pPr>
            <a:r>
              <a:rPr lang="en-US" sz="2200" b="1" dirty="0">
                <a:solidFill>
                  <a:srgbClr val="1B2A5B"/>
                </a:solidFill>
                <a:latin typeface="Calibri" pitchFamily="34" charset="0"/>
                <a:ea typeface="Calibri" pitchFamily="34" charset="-122"/>
                <a:cs typeface="Calibri" pitchFamily="34" charset="-120"/>
              </a:rPr>
              <a:t>[E , F] = (K − K⁻¹) / (q − q⁻¹)</a:t>
            </a:r>
            <a:endParaRPr lang="en-US" sz="2200" dirty="0"/>
          </a:p>
        </p:txBody>
      </p:sp>
      <p:sp>
        <p:nvSpPr>
          <p:cNvPr id="26" name="Text 23"/>
          <p:cNvSpPr/>
          <p:nvPr/>
        </p:nvSpPr>
        <p:spPr>
          <a:xfrm>
            <a:off x="877824" y="15316200"/>
            <a:ext cx="11187227" cy="1554480"/>
          </a:xfrm>
          <a:prstGeom prst="rect">
            <a:avLst/>
          </a:prstGeom>
          <a:noFill/>
          <a:ln/>
        </p:spPr>
        <p:txBody>
          <a:bodyPr wrap="square" rtlCol="0" anchor="t"/>
          <a:lstStyle/>
          <a:p>
            <a:pPr algn="just" indent="0" marL="0">
              <a:buNone/>
            </a:pPr>
            <a:r>
              <a:rPr lang="en-US" sz="2000" dirty="0">
                <a:solidFill>
                  <a:srgbClr val="222222"/>
                </a:solidFill>
                <a:latin typeface="Calibri" pitchFamily="34" charset="0"/>
                <a:ea typeface="Calibri" pitchFamily="34" charset="-122"/>
                <a:cs typeface="Calibri" pitchFamily="34" charset="-120"/>
              </a:rPr>
              <a:t>(n+1)-boyutlu indirgenemez temsil Vn açık matrislerle kurulur; E katsayıları q-tamsayı çarpımları [k]q·[n−k+1]q ile q-deforme olur ve q→1 limitinde klasik sl₂ temsili geri gelir.</a:t>
            </a:r>
            <a:endParaRPr lang="en-US" sz="2000" dirty="0"/>
          </a:p>
        </p:txBody>
      </p:sp>
      <p:pic>
        <p:nvPicPr>
          <p:cNvPr id="27" name="Image 1" descr="/Users/berk.terekli/Documents/GitHub/quantum-groups/poster/figures/tikz_weight-1.png">    </p:cNvPr>
          <p:cNvPicPr>
            <a:picLocks noChangeAspect="1"/>
          </p:cNvPicPr>
          <p:nvPr/>
        </p:nvPicPr>
        <p:blipFill>
          <a:blip r:embed="rId2"/>
          <a:stretch>
            <a:fillRect/>
          </a:stretch>
        </p:blipFill>
        <p:spPr>
          <a:xfrm>
            <a:off x="1625117" y="17007840"/>
            <a:ext cx="9692640" cy="4517660"/>
          </a:xfrm>
          <a:prstGeom prst="rect">
            <a:avLst/>
          </a:prstGeom>
        </p:spPr>
      </p:pic>
      <p:sp>
        <p:nvSpPr>
          <p:cNvPr id="28" name="Text 24"/>
          <p:cNvSpPr/>
          <p:nvPr/>
        </p:nvSpPr>
        <p:spPr>
          <a:xfrm>
            <a:off x="877824" y="21562076"/>
            <a:ext cx="11187227" cy="457200"/>
          </a:xfrm>
          <a:prstGeom prst="rect">
            <a:avLst/>
          </a:prstGeom>
          <a:noFill/>
          <a:ln/>
        </p:spPr>
        <p:txBody>
          <a:bodyPr wrap="square" rtlCol="0" anchor="ctr"/>
          <a:lstStyle/>
          <a:p>
            <a:pPr algn="ctr" indent="0" marL="0">
              <a:buNone/>
            </a:pPr>
            <a:r>
              <a:rPr lang="en-US" sz="1800" i="1" dirty="0">
                <a:solidFill>
                  <a:srgbClr val="1B2A5B"/>
                </a:solidFill>
                <a:latin typeface="Calibri" pitchFamily="34" charset="0"/>
                <a:ea typeface="Calibri" pitchFamily="34" charset="-122"/>
                <a:cs typeface="Calibri" pitchFamily="34" charset="-120"/>
              </a:rPr>
              <a:t>Şekil 1. V₄ temsilinin ağırlık diyagramı: F yükseltir, E q-katsayılarla taşır.</a:t>
            </a:r>
            <a:endParaRPr lang="en-US" sz="1800" dirty="0"/>
          </a:p>
        </p:txBody>
      </p:sp>
      <p:sp>
        <p:nvSpPr>
          <p:cNvPr id="29" name="Shape 25"/>
          <p:cNvSpPr/>
          <p:nvPr/>
        </p:nvSpPr>
        <p:spPr>
          <a:xfrm>
            <a:off x="12805715" y="6995160"/>
            <a:ext cx="11845595" cy="4297680"/>
          </a:xfrm>
          <a:prstGeom prst="roundRect">
            <a:avLst>
              <a:gd name="adj" fmla="val 2553"/>
            </a:avLst>
          </a:prstGeom>
          <a:solidFill>
            <a:srgbClr val="F5F8FD"/>
          </a:solidFill>
          <a:ln w="12700">
            <a:solidFill>
              <a:srgbClr val="D6DEEE"/>
            </a:solidFill>
            <a:prstDash val="solid"/>
          </a:ln>
        </p:spPr>
      </p:sp>
      <p:sp>
        <p:nvSpPr>
          <p:cNvPr id="30" name="Shape 26"/>
          <p:cNvSpPr/>
          <p:nvPr/>
        </p:nvSpPr>
        <p:spPr>
          <a:xfrm>
            <a:off x="12805715" y="6995160"/>
            <a:ext cx="11845595" cy="914400"/>
          </a:xfrm>
          <a:prstGeom prst="roundRect">
            <a:avLst>
              <a:gd name="adj" fmla="val 12000"/>
            </a:avLst>
          </a:prstGeom>
          <a:solidFill>
            <a:srgbClr val="1B2A5B"/>
          </a:solidFill>
          <a:ln/>
        </p:spPr>
      </p:sp>
      <p:sp>
        <p:nvSpPr>
          <p:cNvPr id="31" name="Shape 27"/>
          <p:cNvSpPr/>
          <p:nvPr/>
        </p:nvSpPr>
        <p:spPr>
          <a:xfrm>
            <a:off x="12805715" y="7781544"/>
            <a:ext cx="11845595" cy="128016"/>
          </a:xfrm>
          <a:prstGeom prst="rect">
            <a:avLst/>
          </a:prstGeom>
          <a:solidFill>
            <a:srgbClr val="1B2A5B"/>
          </a:solidFill>
          <a:ln/>
        </p:spPr>
      </p:sp>
      <p:sp>
        <p:nvSpPr>
          <p:cNvPr id="32" name="Text 28"/>
          <p:cNvSpPr/>
          <p:nvPr/>
        </p:nvSpPr>
        <p:spPr>
          <a:xfrm>
            <a:off x="13098323" y="6995160"/>
            <a:ext cx="11260379" cy="914400"/>
          </a:xfrm>
          <a:prstGeom prst="rect">
            <a:avLst/>
          </a:prstGeom>
          <a:noFill/>
          <a:ln/>
        </p:spPr>
        <p:txBody>
          <a:bodyPr wrap="square"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YÖNTEM</a:t>
            </a:r>
            <a:endParaRPr lang="en-US" sz="3000" dirty="0"/>
          </a:p>
        </p:txBody>
      </p:sp>
      <p:sp>
        <p:nvSpPr>
          <p:cNvPr id="33" name="Text 29"/>
          <p:cNvSpPr/>
          <p:nvPr/>
        </p:nvSpPr>
        <p:spPr>
          <a:xfrm>
            <a:off x="13134899" y="8092440"/>
            <a:ext cx="11187227" cy="3017520"/>
          </a:xfrm>
          <a:prstGeom prst="rect">
            <a:avLst/>
          </a:prstGeom>
          <a:noFill/>
          <a:ln/>
        </p:spPr>
        <p:txBody>
          <a:bodyPr wrap="square" rtlCol="0" anchor="t"/>
          <a:lstStyle/>
          <a:p>
            <a:pPr algn="just" indent="0" marL="0">
              <a:lnSpc>
                <a:spcPct val="102000"/>
              </a:lnSpc>
              <a:buNone/>
            </a:pPr>
            <a:r>
              <a:rPr lang="en-US" sz="2000" dirty="0">
                <a:solidFill>
                  <a:srgbClr val="222222"/>
                </a:solidFill>
                <a:latin typeface="Calibri" pitchFamily="34" charset="0"/>
                <a:ea typeface="Calibri" pitchFamily="34" charset="-122"/>
                <a:cs typeface="Calibri" pitchFamily="34" charset="-120"/>
              </a:rPr>
              <a:t>Her cebirsel eşitlik, açık temsiller üzerinde bir kalıntı matrisine indirgenir; matrisin tüm girdileri SymPy ile sembolik olarak sadeleştirilip sıfıra inip inmediği denetlenir. Aynı “kur ve girdi-bazlı sıfırla” deseni, Uq bağıntılarından GLq(2|1) graded Yang–Baxter hesabına dek değişmeden uygulanır. Yalnızca SymPy’ye bağlı modüler quantum_group paketi geliştirilmiş; her doğrulama bir pytest testine bağlanmıştır.</a:t>
            </a:r>
            <a:endParaRPr lang="en-US" sz="2000" dirty="0"/>
          </a:p>
        </p:txBody>
      </p:sp>
      <p:sp>
        <p:nvSpPr>
          <p:cNvPr id="34" name="Shape 30"/>
          <p:cNvSpPr/>
          <p:nvPr/>
        </p:nvSpPr>
        <p:spPr>
          <a:xfrm>
            <a:off x="12805715" y="11612880"/>
            <a:ext cx="11845595" cy="10332720"/>
          </a:xfrm>
          <a:prstGeom prst="roundRect">
            <a:avLst>
              <a:gd name="adj" fmla="val 1062"/>
            </a:avLst>
          </a:prstGeom>
          <a:solidFill>
            <a:srgbClr val="F5F8FD"/>
          </a:solidFill>
          <a:ln w="12700">
            <a:solidFill>
              <a:srgbClr val="D6DEEE"/>
            </a:solidFill>
            <a:prstDash val="solid"/>
          </a:ln>
        </p:spPr>
      </p:sp>
      <p:sp>
        <p:nvSpPr>
          <p:cNvPr id="35" name="Shape 31"/>
          <p:cNvSpPr/>
          <p:nvPr/>
        </p:nvSpPr>
        <p:spPr>
          <a:xfrm>
            <a:off x="12805715" y="11612880"/>
            <a:ext cx="11845595" cy="914400"/>
          </a:xfrm>
          <a:prstGeom prst="roundRect">
            <a:avLst>
              <a:gd name="adj" fmla="val 12000"/>
            </a:avLst>
          </a:prstGeom>
          <a:solidFill>
            <a:srgbClr val="1B2A5B"/>
          </a:solidFill>
          <a:ln/>
        </p:spPr>
      </p:sp>
      <p:sp>
        <p:nvSpPr>
          <p:cNvPr id="36" name="Shape 32"/>
          <p:cNvSpPr/>
          <p:nvPr/>
        </p:nvSpPr>
        <p:spPr>
          <a:xfrm>
            <a:off x="12805715" y="12399264"/>
            <a:ext cx="11845595" cy="128016"/>
          </a:xfrm>
          <a:prstGeom prst="rect">
            <a:avLst/>
          </a:prstGeom>
          <a:solidFill>
            <a:srgbClr val="1B2A5B"/>
          </a:solidFill>
          <a:ln/>
        </p:spPr>
      </p:sp>
      <p:sp>
        <p:nvSpPr>
          <p:cNvPr id="37" name="Text 33"/>
          <p:cNvSpPr/>
          <p:nvPr/>
        </p:nvSpPr>
        <p:spPr>
          <a:xfrm>
            <a:off x="13098323" y="11612880"/>
            <a:ext cx="11260379" cy="914400"/>
          </a:xfrm>
          <a:prstGeom prst="rect">
            <a:avLst/>
          </a:prstGeom>
          <a:noFill/>
          <a:ln/>
        </p:spPr>
        <p:txBody>
          <a:bodyPr wrap="square"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BULGULAR</a:t>
            </a:r>
            <a:endParaRPr lang="en-US" sz="3000" dirty="0"/>
          </a:p>
        </p:txBody>
      </p:sp>
      <p:sp>
        <p:nvSpPr>
          <p:cNvPr id="38" name="Text 34"/>
          <p:cNvSpPr/>
          <p:nvPr/>
        </p:nvSpPr>
        <p:spPr>
          <a:xfrm>
            <a:off x="13134899" y="12710160"/>
            <a:ext cx="11187227" cy="3657600"/>
          </a:xfrm>
          <a:prstGeom prst="rect">
            <a:avLst/>
          </a:prstGeom>
          <a:noFill/>
          <a:ln/>
        </p:spPr>
        <p:txBody>
          <a:bodyPr wrap="square" rtlCol="0" anchor="t"/>
          <a:lstStyle/>
          <a:p>
            <a:pPr algn="l" marL="228600" indent="-228600">
              <a:lnSpc>
                <a:spcPct val="102000"/>
              </a:lnSpc>
              <a:spcAft>
                <a:spcPts val="800"/>
              </a:spcAft>
              <a:buSzPct val="100000"/>
              <a:buChar char="•"/>
            </a:pPr>
            <a:r>
              <a:rPr lang="en-US" sz="2000" dirty="0">
                <a:solidFill>
                  <a:srgbClr val="222222"/>
                </a:solidFill>
                <a:latin typeface="Calibri" pitchFamily="34" charset="0"/>
                <a:ea typeface="Calibri" pitchFamily="34" charset="-122"/>
                <a:cs typeface="Calibri" pitchFamily="34" charset="-120"/>
              </a:rPr>
              <a:t>Uq(sl₂) için dört tanımlayıcı bağıntı ve dokuz Hopf aksiyomu seçilen temsillerde sembolik olarak doğrulandı.</a:t>
            </a:r>
            <a:endParaRPr lang="en-US" sz="2000" dirty="0"/>
          </a:p>
          <a:p>
            <a:pPr algn="l" marL="228600" indent="-228600">
              <a:lnSpc>
                <a:spcPct val="102000"/>
              </a:lnSpc>
              <a:spcAft>
                <a:spcPts val="800"/>
              </a:spcAft>
              <a:buSzPct val="100000"/>
              <a:buChar char="•"/>
            </a:pPr>
            <a:r>
              <a:rPr lang="en-US" sz="2000" dirty="0">
                <a:solidFill>
                  <a:srgbClr val="222222"/>
                </a:solidFill>
                <a:latin typeface="Calibri" pitchFamily="34" charset="0"/>
                <a:ea typeface="Calibri" pitchFamily="34" charset="-122"/>
                <a:cs typeface="Calibri" pitchFamily="34" charset="-120"/>
              </a:rPr>
              <a:t>Tensör çarpımı Vm⊗Vn üzerinde eş-çarpımdan gelen eylem kuruldu; Clebsch–Gordan en yüksek ağırlık vektörleri q-deforme katsayılarla elde edildi.</a:t>
            </a:r>
            <a:endParaRPr lang="en-US" sz="2000" dirty="0"/>
          </a:p>
          <a:p>
            <a:pPr algn="l" marL="228600" indent="-228600">
              <a:lnSpc>
                <a:spcPct val="102000"/>
              </a:lnSpc>
              <a:spcAft>
                <a:spcPts val="800"/>
              </a:spcAft>
              <a:buSzPct val="100000"/>
              <a:buChar char="•"/>
            </a:pPr>
            <a:r>
              <a:rPr lang="en-US" sz="2000" dirty="0">
                <a:solidFill>
                  <a:srgbClr val="222222"/>
                </a:solidFill>
                <a:latin typeface="Calibri" pitchFamily="34" charset="0"/>
                <a:ea typeface="Calibri" pitchFamily="34" charset="-122"/>
                <a:cs typeface="Calibri" pitchFamily="34" charset="-120"/>
              </a:rPr>
              <a:t>V₁⊗V₁ üzerinde R-matrisi, kuantum Yang–Baxter denklemi, örgü bağıntısı ve Hecke skein özdeşliği doğrulandı.</a:t>
            </a:r>
            <a:endParaRPr lang="en-US" sz="2000" dirty="0"/>
          </a:p>
        </p:txBody>
      </p:sp>
      <p:pic>
        <p:nvPicPr>
          <p:cNvPr id="39" name="Image 2" descr="/Users/berk.terekli/Documents/GitHub/quantum-groups/poster/figures/R_sl2_V1-1.png">    </p:cNvPr>
          <p:cNvPicPr>
            <a:picLocks noChangeAspect="1"/>
          </p:cNvPicPr>
          <p:nvPr/>
        </p:nvPicPr>
        <p:blipFill>
          <a:blip r:embed="rId3"/>
          <a:stretch>
            <a:fillRect/>
          </a:stretch>
        </p:blipFill>
        <p:spPr>
          <a:xfrm>
            <a:off x="13699312" y="16504920"/>
            <a:ext cx="10058400" cy="5652374"/>
          </a:xfrm>
          <a:prstGeom prst="rect">
            <a:avLst/>
          </a:prstGeom>
        </p:spPr>
      </p:pic>
      <p:sp>
        <p:nvSpPr>
          <p:cNvPr id="40" name="Text 35"/>
          <p:cNvSpPr/>
          <p:nvPr/>
        </p:nvSpPr>
        <p:spPr>
          <a:xfrm>
            <a:off x="13134899" y="22193870"/>
            <a:ext cx="11187227" cy="457200"/>
          </a:xfrm>
          <a:prstGeom prst="rect">
            <a:avLst/>
          </a:prstGeom>
          <a:noFill/>
          <a:ln/>
        </p:spPr>
        <p:txBody>
          <a:bodyPr wrap="square" rtlCol="0" anchor="ctr"/>
          <a:lstStyle/>
          <a:p>
            <a:pPr algn="ctr" indent="0" marL="0">
              <a:buNone/>
            </a:pPr>
            <a:r>
              <a:rPr lang="en-US" sz="1800" i="1" dirty="0">
                <a:solidFill>
                  <a:srgbClr val="1B2A5B"/>
                </a:solidFill>
                <a:latin typeface="Calibri" pitchFamily="34" charset="0"/>
                <a:ea typeface="Calibri" pitchFamily="34" charset="-122"/>
                <a:cs typeface="Calibri" pitchFamily="34" charset="-120"/>
              </a:rPr>
              <a:t>Şekil 2. V₁⊗V₁ üzerinde Drinfeld R-matrisi ve örgülü Ř = τR.</a:t>
            </a:r>
            <a:endParaRPr lang="en-US" sz="1800" dirty="0"/>
          </a:p>
        </p:txBody>
      </p:sp>
      <p:sp>
        <p:nvSpPr>
          <p:cNvPr id="41" name="Shape 36"/>
          <p:cNvSpPr/>
          <p:nvPr/>
        </p:nvSpPr>
        <p:spPr>
          <a:xfrm>
            <a:off x="548640" y="22082760"/>
            <a:ext cx="24102670" cy="5715000"/>
          </a:xfrm>
          <a:prstGeom prst="roundRect">
            <a:avLst>
              <a:gd name="adj" fmla="val 1920"/>
            </a:avLst>
          </a:prstGeom>
          <a:solidFill>
            <a:srgbClr val="F5F8FD"/>
          </a:solidFill>
          <a:ln w="12700">
            <a:solidFill>
              <a:srgbClr val="D6DEEE"/>
            </a:solidFill>
            <a:prstDash val="solid"/>
          </a:ln>
        </p:spPr>
      </p:sp>
      <p:sp>
        <p:nvSpPr>
          <p:cNvPr id="42" name="Shape 37"/>
          <p:cNvSpPr/>
          <p:nvPr/>
        </p:nvSpPr>
        <p:spPr>
          <a:xfrm>
            <a:off x="548640" y="22082760"/>
            <a:ext cx="24102670" cy="914400"/>
          </a:xfrm>
          <a:prstGeom prst="roundRect">
            <a:avLst>
              <a:gd name="adj" fmla="val 12000"/>
            </a:avLst>
          </a:prstGeom>
          <a:solidFill>
            <a:srgbClr val="1B2A5B"/>
          </a:solidFill>
          <a:ln/>
        </p:spPr>
      </p:sp>
      <p:sp>
        <p:nvSpPr>
          <p:cNvPr id="43" name="Shape 38"/>
          <p:cNvSpPr/>
          <p:nvPr/>
        </p:nvSpPr>
        <p:spPr>
          <a:xfrm>
            <a:off x="548640" y="22869144"/>
            <a:ext cx="24102670" cy="128016"/>
          </a:xfrm>
          <a:prstGeom prst="rect">
            <a:avLst/>
          </a:prstGeom>
          <a:solidFill>
            <a:srgbClr val="1B2A5B"/>
          </a:solidFill>
          <a:ln/>
        </p:spPr>
      </p:sp>
      <p:sp>
        <p:nvSpPr>
          <p:cNvPr id="44" name="Text 39"/>
          <p:cNvSpPr/>
          <p:nvPr/>
        </p:nvSpPr>
        <p:spPr>
          <a:xfrm>
            <a:off x="841248" y="22082760"/>
            <a:ext cx="23517454" cy="914400"/>
          </a:xfrm>
          <a:prstGeom prst="rect">
            <a:avLst/>
          </a:prstGeom>
          <a:noFill/>
          <a:ln/>
        </p:spPr>
        <p:txBody>
          <a:bodyPr wrap="square"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GLq(2|1) GRADED YANG–BAXTER</a:t>
            </a:r>
            <a:endParaRPr lang="en-US" sz="3000" dirty="0"/>
          </a:p>
        </p:txBody>
      </p:sp>
      <p:sp>
        <p:nvSpPr>
          <p:cNvPr id="45" name="Text 40"/>
          <p:cNvSpPr/>
          <p:nvPr/>
        </p:nvSpPr>
        <p:spPr>
          <a:xfrm>
            <a:off x="877824" y="23180040"/>
            <a:ext cx="6858000" cy="4206240"/>
          </a:xfrm>
          <a:prstGeom prst="rect">
            <a:avLst/>
          </a:prstGeom>
          <a:noFill/>
          <a:ln/>
        </p:spPr>
        <p:txBody>
          <a:bodyPr wrap="square" rtlCol="0" anchor="t"/>
          <a:lstStyle/>
          <a:p>
            <a:pPr algn="just" indent="0" marL="0">
              <a:lnSpc>
                <a:spcPct val="105000"/>
              </a:lnSpc>
              <a:buNone/>
            </a:pPr>
            <a:r>
              <a:rPr lang="en-US" sz="2000" dirty="0">
                <a:solidFill>
                  <a:srgbClr val="222222"/>
                </a:solidFill>
                <a:latin typeface="Calibri" pitchFamily="34" charset="0"/>
                <a:ea typeface="Calibri" pitchFamily="34" charset="-122"/>
                <a:cs typeface="Calibri" pitchFamily="34" charset="-120"/>
              </a:rPr>
              <a:t>Salih Çelik ve Sultan A. Çelik’in tanıttığı GLq(2|1) süpergrubunun 9×9 R-matrisi bağımsız kodlandı. p(e₁)=p(e₂)=0, p(e₃)=1 parite konvansiyonu ve süper permütasyonla R₁₃ yerleşimi kuruldu; graded Yang–Baxter kalıntısının tüm 27×27 girdisinin sıfır olduğu — yani R₁₂R₁₃R₂₃ = R₂₃R₁₃R₁₂ — sembolik olarak doğrulandı.</a:t>
            </a:r>
            <a:endParaRPr lang="en-US" sz="2000" dirty="0"/>
          </a:p>
        </p:txBody>
      </p:sp>
      <p:pic>
        <p:nvPicPr>
          <p:cNvPr id="46" name="Image 3" descr="/Users/berk.terekli/Documents/GitHub/quantum-groups/poster/figures/ybe_products_27-1.png">    </p:cNvPr>
          <p:cNvPicPr>
            <a:picLocks noChangeAspect="1"/>
          </p:cNvPicPr>
          <p:nvPr/>
        </p:nvPicPr>
        <p:blipFill>
          <a:blip r:embed="rId4"/>
          <a:stretch>
            <a:fillRect/>
          </a:stretch>
        </p:blipFill>
        <p:spPr>
          <a:xfrm>
            <a:off x="8101584" y="23180040"/>
            <a:ext cx="10397949" cy="3977640"/>
          </a:xfrm>
          <a:prstGeom prst="rect">
            <a:avLst/>
          </a:prstGeom>
        </p:spPr>
      </p:pic>
      <p:sp>
        <p:nvSpPr>
          <p:cNvPr id="47" name="Text 41"/>
          <p:cNvSpPr/>
          <p:nvPr/>
        </p:nvSpPr>
        <p:spPr>
          <a:xfrm>
            <a:off x="8101584" y="27194256"/>
            <a:ext cx="10397949" cy="457200"/>
          </a:xfrm>
          <a:prstGeom prst="rect">
            <a:avLst/>
          </a:prstGeom>
          <a:noFill/>
          <a:ln/>
        </p:spPr>
        <p:txBody>
          <a:bodyPr wrap="square" rtlCol="0" anchor="ctr"/>
          <a:lstStyle/>
          <a:p>
            <a:pPr algn="ctr" indent="0" marL="0">
              <a:buNone/>
            </a:pPr>
            <a:r>
              <a:rPr lang="en-US" sz="1800" i="1" dirty="0">
                <a:solidFill>
                  <a:srgbClr val="1B2A5B"/>
                </a:solidFill>
                <a:latin typeface="Calibri" pitchFamily="34" charset="0"/>
                <a:ea typeface="Calibri" pitchFamily="34" charset="-122"/>
                <a:cs typeface="Calibri" pitchFamily="34" charset="-120"/>
              </a:rPr>
              <a:t>Şekil 3. Graded Yang–Baxter’in iki tarafı (27×27) özdeş; kalıntı tümüyle sıfırdır.</a:t>
            </a:r>
            <a:endParaRPr lang="en-US" sz="1800" dirty="0"/>
          </a:p>
        </p:txBody>
      </p:sp>
      <p:pic>
        <p:nvPicPr>
          <p:cNvPr id="48" name="Image 4" descr="/Users/berk.terekli/Documents/GitHub/quantum-groups/poster/figures/R_gl21_structure-1.png">    </p:cNvPr>
          <p:cNvPicPr>
            <a:picLocks noChangeAspect="1"/>
          </p:cNvPicPr>
          <p:nvPr/>
        </p:nvPicPr>
        <p:blipFill>
          <a:blip r:embed="rId5"/>
          <a:stretch>
            <a:fillRect/>
          </a:stretch>
        </p:blipFill>
        <p:spPr>
          <a:xfrm>
            <a:off x="18819573" y="23180040"/>
            <a:ext cx="4523770" cy="3977640"/>
          </a:xfrm>
          <a:prstGeom prst="rect">
            <a:avLst/>
          </a:prstGeom>
        </p:spPr>
      </p:pic>
      <p:sp>
        <p:nvSpPr>
          <p:cNvPr id="49" name="Text 42"/>
          <p:cNvSpPr/>
          <p:nvPr/>
        </p:nvSpPr>
        <p:spPr>
          <a:xfrm>
            <a:off x="18819573" y="27194256"/>
            <a:ext cx="4523770" cy="457200"/>
          </a:xfrm>
          <a:prstGeom prst="rect">
            <a:avLst/>
          </a:prstGeom>
          <a:noFill/>
          <a:ln/>
        </p:spPr>
        <p:txBody>
          <a:bodyPr wrap="square" rtlCol="0" anchor="ctr"/>
          <a:lstStyle/>
          <a:p>
            <a:pPr algn="ctr" indent="0" marL="0">
              <a:buNone/>
            </a:pPr>
            <a:r>
              <a:rPr lang="en-US" sz="1800" i="1" dirty="0">
                <a:solidFill>
                  <a:srgbClr val="1B2A5B"/>
                </a:solidFill>
                <a:latin typeface="Calibri" pitchFamily="34" charset="0"/>
                <a:ea typeface="Calibri" pitchFamily="34" charset="-122"/>
                <a:cs typeface="Calibri" pitchFamily="34" charset="-120"/>
              </a:rPr>
              <a:t>Şekil 4. GLq(2|1) için 9×9 R-matrisinin girdi-tipi haritası.</a:t>
            </a:r>
            <a:endParaRPr lang="en-US" sz="1800" dirty="0"/>
          </a:p>
        </p:txBody>
      </p:sp>
      <p:sp>
        <p:nvSpPr>
          <p:cNvPr id="50" name="Shape 43"/>
          <p:cNvSpPr/>
          <p:nvPr/>
        </p:nvSpPr>
        <p:spPr>
          <a:xfrm>
            <a:off x="548640" y="27980640"/>
            <a:ext cx="11845595" cy="3063240"/>
          </a:xfrm>
          <a:prstGeom prst="roundRect">
            <a:avLst>
              <a:gd name="adj" fmla="val 3582"/>
            </a:avLst>
          </a:prstGeom>
          <a:solidFill>
            <a:srgbClr val="F5F8FD"/>
          </a:solidFill>
          <a:ln w="12700">
            <a:solidFill>
              <a:srgbClr val="D6DEEE"/>
            </a:solidFill>
            <a:prstDash val="solid"/>
          </a:ln>
        </p:spPr>
      </p:sp>
      <p:sp>
        <p:nvSpPr>
          <p:cNvPr id="51" name="Shape 44"/>
          <p:cNvSpPr/>
          <p:nvPr/>
        </p:nvSpPr>
        <p:spPr>
          <a:xfrm>
            <a:off x="548640" y="27980640"/>
            <a:ext cx="11845595" cy="914400"/>
          </a:xfrm>
          <a:prstGeom prst="roundRect">
            <a:avLst>
              <a:gd name="adj" fmla="val 12000"/>
            </a:avLst>
          </a:prstGeom>
          <a:solidFill>
            <a:srgbClr val="1B2A5B"/>
          </a:solidFill>
          <a:ln/>
        </p:spPr>
      </p:sp>
      <p:sp>
        <p:nvSpPr>
          <p:cNvPr id="52" name="Shape 45"/>
          <p:cNvSpPr/>
          <p:nvPr/>
        </p:nvSpPr>
        <p:spPr>
          <a:xfrm>
            <a:off x="548640" y="28767024"/>
            <a:ext cx="11845595" cy="128016"/>
          </a:xfrm>
          <a:prstGeom prst="rect">
            <a:avLst/>
          </a:prstGeom>
          <a:solidFill>
            <a:srgbClr val="1B2A5B"/>
          </a:solidFill>
          <a:ln/>
        </p:spPr>
      </p:sp>
      <p:sp>
        <p:nvSpPr>
          <p:cNvPr id="53" name="Text 46"/>
          <p:cNvSpPr/>
          <p:nvPr/>
        </p:nvSpPr>
        <p:spPr>
          <a:xfrm>
            <a:off x="841248" y="27980640"/>
            <a:ext cx="11260379" cy="914400"/>
          </a:xfrm>
          <a:prstGeom prst="rect">
            <a:avLst/>
          </a:prstGeom>
          <a:noFill/>
          <a:ln/>
        </p:spPr>
        <p:txBody>
          <a:bodyPr wrap="square"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SONUÇ</a:t>
            </a:r>
            <a:endParaRPr lang="en-US" sz="3000" dirty="0"/>
          </a:p>
        </p:txBody>
      </p:sp>
      <p:sp>
        <p:nvSpPr>
          <p:cNvPr id="54" name="Text 47"/>
          <p:cNvSpPr/>
          <p:nvPr/>
        </p:nvSpPr>
        <p:spPr>
          <a:xfrm>
            <a:off x="877824" y="29077920"/>
            <a:ext cx="11187227" cy="1874520"/>
          </a:xfrm>
          <a:prstGeom prst="rect">
            <a:avLst/>
          </a:prstGeom>
          <a:noFill/>
          <a:ln/>
        </p:spPr>
        <p:txBody>
          <a:bodyPr wrap="square" rtlCol="0" anchor="t"/>
          <a:lstStyle/>
          <a:p>
            <a:pPr algn="just" indent="0" marL="0">
              <a:lnSpc>
                <a:spcPct val="102000"/>
              </a:lnSpc>
              <a:buNone/>
            </a:pPr>
            <a:r>
              <a:rPr lang="en-US" sz="2000" dirty="0">
                <a:solidFill>
                  <a:srgbClr val="222222"/>
                </a:solidFill>
                <a:latin typeface="Calibri" pitchFamily="34" charset="0"/>
                <a:ea typeface="Calibri" pitchFamily="34" charset="-122"/>
                <a:cs typeface="Calibri" pitchFamily="34" charset="-120"/>
              </a:rPr>
              <a:t>Yüksek boyutlu Yang–Baxter tipi hesaplar, elle yürütülen cebirsel manipülasyonlardan test edilebilir ve yeniden üretilebilir sembolik doğrulama prosedürlerine taşınabilir. Parite bilgisi matris düzeyine gömülerek en hata-açık adım — işaret ve faktör sıralaması — otomatikleştirilmiştir.</a:t>
            </a:r>
            <a:endParaRPr lang="en-US" sz="2000" dirty="0"/>
          </a:p>
        </p:txBody>
      </p:sp>
      <p:sp>
        <p:nvSpPr>
          <p:cNvPr id="55" name="Shape 48"/>
          <p:cNvSpPr/>
          <p:nvPr/>
        </p:nvSpPr>
        <p:spPr>
          <a:xfrm>
            <a:off x="12805715" y="27980640"/>
            <a:ext cx="11845595" cy="3063240"/>
          </a:xfrm>
          <a:prstGeom prst="roundRect">
            <a:avLst>
              <a:gd name="adj" fmla="val 3582"/>
            </a:avLst>
          </a:prstGeom>
          <a:solidFill>
            <a:srgbClr val="F5F8FD"/>
          </a:solidFill>
          <a:ln w="12700">
            <a:solidFill>
              <a:srgbClr val="D6DEEE"/>
            </a:solidFill>
            <a:prstDash val="solid"/>
          </a:ln>
        </p:spPr>
      </p:sp>
      <p:sp>
        <p:nvSpPr>
          <p:cNvPr id="56" name="Shape 49"/>
          <p:cNvSpPr/>
          <p:nvPr/>
        </p:nvSpPr>
        <p:spPr>
          <a:xfrm>
            <a:off x="12805715" y="27980640"/>
            <a:ext cx="11845595" cy="914400"/>
          </a:xfrm>
          <a:prstGeom prst="roundRect">
            <a:avLst>
              <a:gd name="adj" fmla="val 12000"/>
            </a:avLst>
          </a:prstGeom>
          <a:solidFill>
            <a:srgbClr val="1B2A5B"/>
          </a:solidFill>
          <a:ln/>
        </p:spPr>
      </p:sp>
      <p:sp>
        <p:nvSpPr>
          <p:cNvPr id="57" name="Shape 50"/>
          <p:cNvSpPr/>
          <p:nvPr/>
        </p:nvSpPr>
        <p:spPr>
          <a:xfrm>
            <a:off x="12805715" y="28767024"/>
            <a:ext cx="11845595" cy="128016"/>
          </a:xfrm>
          <a:prstGeom prst="rect">
            <a:avLst/>
          </a:prstGeom>
          <a:solidFill>
            <a:srgbClr val="1B2A5B"/>
          </a:solidFill>
          <a:ln/>
        </p:spPr>
      </p:sp>
      <p:sp>
        <p:nvSpPr>
          <p:cNvPr id="58" name="Text 51"/>
          <p:cNvSpPr/>
          <p:nvPr/>
        </p:nvSpPr>
        <p:spPr>
          <a:xfrm>
            <a:off x="13098323" y="27980640"/>
            <a:ext cx="11260379" cy="914400"/>
          </a:xfrm>
          <a:prstGeom prst="rect">
            <a:avLst/>
          </a:prstGeom>
          <a:noFill/>
          <a:ln/>
        </p:spPr>
        <p:txBody>
          <a:bodyPr wrap="square"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KAYNAKÇA</a:t>
            </a:r>
            <a:endParaRPr lang="en-US" sz="3000" dirty="0"/>
          </a:p>
        </p:txBody>
      </p:sp>
      <p:sp>
        <p:nvSpPr>
          <p:cNvPr id="59" name="Text 52"/>
          <p:cNvSpPr/>
          <p:nvPr/>
        </p:nvSpPr>
        <p:spPr>
          <a:xfrm>
            <a:off x="13134899" y="29077920"/>
            <a:ext cx="11187227" cy="1874520"/>
          </a:xfrm>
          <a:prstGeom prst="rect">
            <a:avLst/>
          </a:prstGeom>
          <a:noFill/>
          <a:ln/>
        </p:spPr>
        <p:txBody>
          <a:bodyPr wrap="square" rtlCol="0" anchor="t"/>
          <a:lstStyle/>
          <a:p>
            <a:pPr algn="just" indent="0" marL="0">
              <a:lnSpc>
                <a:spcPct val="100000"/>
              </a:lnSpc>
              <a:buNone/>
            </a:pPr>
            <a:r>
              <a:rPr lang="en-US" sz="1800" b="1" dirty="0">
                <a:solidFill>
                  <a:srgbClr val="222222"/>
                </a:solidFill>
                <a:latin typeface="Calibri" pitchFamily="34" charset="0"/>
                <a:ea typeface="Calibri" pitchFamily="34" charset="-122"/>
                <a:cs typeface="Calibri" pitchFamily="34" charset="-120"/>
              </a:rPr>
              <a:t>[1] </a:t>
            </a:r>
            <a:pPr algn="just" indent="0" marL="0">
              <a:lnSpc>
                <a:spcPct val="100000"/>
              </a:lnSpc>
              <a:spcAft>
                <a:spcPts val="600"/>
              </a:spcAft>
              <a:buNone/>
            </a:pPr>
            <a:r>
              <a:rPr lang="en-US" sz="1800" dirty="0">
                <a:solidFill>
                  <a:srgbClr val="222222"/>
                </a:solidFill>
                <a:latin typeface="Calibri" pitchFamily="34" charset="0"/>
                <a:ea typeface="Calibri" pitchFamily="34" charset="-122"/>
                <a:cs typeface="Calibri" pitchFamily="34" charset="-120"/>
              </a:rPr>
              <a:t>Çelik, S., Çelik, S. A., (2021). “A New Quantum Supergroup and its Gauss Decomposition”, Reports on Mathematical Physics, 88(2), 259–272.</a:t>
            </a:r>
            <a:endParaRPr lang="en-US" sz="1800" dirty="0"/>
          </a:p>
          <a:p>
            <a:pPr algn="just" indent="0" marL="0">
              <a:lnSpc>
                <a:spcPct val="100000"/>
              </a:lnSpc>
              <a:buNone/>
            </a:pPr>
            <a:r>
              <a:rPr lang="en-US" sz="1800" b="1" dirty="0">
                <a:solidFill>
                  <a:srgbClr val="222222"/>
                </a:solidFill>
                <a:latin typeface="Calibri" pitchFamily="34" charset="0"/>
                <a:ea typeface="Calibri" pitchFamily="34" charset="-122"/>
                <a:cs typeface="Calibri" pitchFamily="34" charset="-120"/>
              </a:rPr>
              <a:t>[2] </a:t>
            </a:r>
            <a:pPr algn="just" indent="0" marL="0">
              <a:lnSpc>
                <a:spcPct val="100000"/>
              </a:lnSpc>
              <a:spcAft>
                <a:spcPts val="600"/>
              </a:spcAft>
              <a:buNone/>
            </a:pPr>
            <a:r>
              <a:rPr lang="en-US" sz="1800" dirty="0">
                <a:solidFill>
                  <a:srgbClr val="222222"/>
                </a:solidFill>
                <a:latin typeface="Calibri" pitchFamily="34" charset="0"/>
                <a:ea typeface="Calibri" pitchFamily="34" charset="-122"/>
                <a:cs typeface="Calibri" pitchFamily="34" charset="-120"/>
              </a:rPr>
              <a:t>Kassel, C., (1995). Quantum Groups, Springer, New York.</a:t>
            </a:r>
            <a:endParaRPr lang="en-US" sz="1800" dirty="0"/>
          </a:p>
          <a:p>
            <a:pPr algn="just" indent="0" marL="0">
              <a:lnSpc>
                <a:spcPct val="100000"/>
              </a:lnSpc>
              <a:buNone/>
            </a:pPr>
            <a:r>
              <a:rPr lang="en-US" sz="1800" b="1" dirty="0">
                <a:solidFill>
                  <a:srgbClr val="222222"/>
                </a:solidFill>
                <a:latin typeface="Calibri" pitchFamily="34" charset="0"/>
                <a:ea typeface="Calibri" pitchFamily="34" charset="-122"/>
                <a:cs typeface="Calibri" pitchFamily="34" charset="-120"/>
              </a:rPr>
              <a:t>[3] </a:t>
            </a:r>
            <a:pPr algn="just" indent="0" marL="0">
              <a:lnSpc>
                <a:spcPct val="100000"/>
              </a:lnSpc>
              <a:spcAft>
                <a:spcPts val="600"/>
              </a:spcAft>
              <a:buNone/>
            </a:pPr>
            <a:r>
              <a:rPr lang="en-US" sz="1800" dirty="0">
                <a:solidFill>
                  <a:srgbClr val="222222"/>
                </a:solidFill>
                <a:latin typeface="Calibri" pitchFamily="34" charset="0"/>
                <a:ea typeface="Calibri" pitchFamily="34" charset="-122"/>
                <a:cs typeface="Calibri" pitchFamily="34" charset="-120"/>
              </a:rPr>
              <a:t>Chari, V., Pressley, A., (1994). A Guide to Quantum Groups, Cambridge University Press, Cambridge.</a:t>
            </a:r>
            <a:endParaRPr lang="en-US" sz="1800" dirty="0"/>
          </a:p>
        </p:txBody>
      </p:sp>
      <p:sp>
        <p:nvSpPr>
          <p:cNvPr id="60" name="Shape 53"/>
          <p:cNvSpPr/>
          <p:nvPr/>
        </p:nvSpPr>
        <p:spPr>
          <a:xfrm>
            <a:off x="0" y="31181040"/>
            <a:ext cx="25199950" cy="868680"/>
          </a:xfrm>
          <a:prstGeom prst="rect">
            <a:avLst/>
          </a:prstGeom>
          <a:solidFill>
            <a:srgbClr val="1B2A5B"/>
          </a:solidFill>
          <a:ln/>
        </p:spPr>
      </p:sp>
      <p:sp>
        <p:nvSpPr>
          <p:cNvPr id="61" name="Shape 54"/>
          <p:cNvSpPr/>
          <p:nvPr/>
        </p:nvSpPr>
        <p:spPr>
          <a:xfrm>
            <a:off x="0" y="31181040"/>
            <a:ext cx="25199950" cy="73152"/>
          </a:xfrm>
          <a:prstGeom prst="rect">
            <a:avLst/>
          </a:prstGeom>
          <a:solidFill>
            <a:srgbClr val="BE9B57"/>
          </a:solidFill>
          <a:ln/>
        </p:spPr>
      </p:sp>
      <p:sp>
        <p:nvSpPr>
          <p:cNvPr id="62" name="Text 55"/>
          <p:cNvSpPr/>
          <p:nvPr/>
        </p:nvSpPr>
        <p:spPr>
          <a:xfrm>
            <a:off x="548640" y="31181040"/>
            <a:ext cx="24102670" cy="868680"/>
          </a:xfrm>
          <a:prstGeom prst="rect">
            <a:avLst/>
          </a:prstGeom>
          <a:noFill/>
          <a:ln/>
        </p:spPr>
        <p:txBody>
          <a:bodyPr wrap="square" rtlCol="0" anchor="ctr"/>
          <a:lstStyle/>
          <a:p>
            <a:pPr algn="ctr" indent="0" marL="0">
              <a:buNone/>
            </a:pPr>
            <a:r>
              <a:rPr lang="en-US" sz="1800" dirty="0">
                <a:solidFill>
                  <a:srgbClr val="FFFFFF"/>
                </a:solidFill>
                <a:latin typeface="Calibri" pitchFamily="34" charset="0"/>
                <a:ea typeface="Calibri" pitchFamily="34" charset="-122"/>
                <a:cs typeface="Calibri" pitchFamily="34" charset="-120"/>
              </a:rPr>
              <a:t>Açık kaynak ve yeniden üretilebilir:  </a:t>
            </a:r>
            <a:pPr algn="ctr" indent="0" marL="0">
              <a:buNone/>
            </a:pPr>
            <a:r>
              <a:rPr lang="en-US" sz="1800" b="1" dirty="0">
                <a:solidFill>
                  <a:srgbClr val="BE9B57"/>
                </a:solidFill>
                <a:latin typeface="Calibri" pitchFamily="34" charset="0"/>
                <a:ea typeface="Calibri" pitchFamily="34" charset="-122"/>
                <a:cs typeface="Calibri" pitchFamily="34" charset="-120"/>
              </a:rPr>
              <a:t>github.com/TerekliTahaBerk/quantum-groups</a:t>
            </a:r>
            <a:pPr algn="ctr" indent="0" marL="0">
              <a:buNone/>
            </a:pPr>
            <a:r>
              <a:rPr lang="en-US" sz="1800" dirty="0">
                <a:solidFill>
                  <a:srgbClr val="FFFFFF"/>
                </a:solidFill>
                <a:latin typeface="Calibri" pitchFamily="34" charset="0"/>
                <a:ea typeface="Calibri" pitchFamily="34" charset="-122"/>
                <a:cs typeface="Calibri" pitchFamily="34" charset="-120"/>
              </a:rPr>
              <a:t>        ·        YTÜ Fen-Edebiyat Fakültesi, Matematik Bölümü</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2026-06-03T12:55:30Z</dcterms:created>
  <dcterms:modified xsi:type="dcterms:W3CDTF">2026-06-03T12:55:30Z</dcterms:modified>
</cp:coreProperties>
</file>